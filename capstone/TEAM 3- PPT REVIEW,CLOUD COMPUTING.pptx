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7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48" r:id="rId11"/>
    <p:sldId id="423" r:id="rId12"/>
    <p:sldId id="419" r:id="rId13"/>
    <p:sldId id="427" r:id="rId14"/>
    <p:sldId id="428" r:id="rId15"/>
    <p:sldId id="44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>
        <p:scale>
          <a:sx n="75" d="100"/>
          <a:sy n="75" d="100"/>
        </p:scale>
        <p:origin x="1618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whitepapers/latest/disaster-recovery-workloads-on-aws/disaster-recovery-options-in-the-cloud.html?utm_source=chatgpt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cloud.google.com/architecture/disaster-recovery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ws.amazon.com/blogs/storage/building-a-disaster-recovery-site-on-aws-for-workloads-on-microsoft-azure/?utm_source=chatgpt.com" TargetMode="External"/><Relationship Id="rId5" Type="http://schemas.openxmlformats.org/officeDocument/2006/relationships/hyperlink" Target="https://docs.aws.amazon.com/whitepapers/latest/disaster-recovery-workloads-on-aws/introduction.html?utm_source=chatgpt.com" TargetMode="External"/><Relationship Id="rId10" Type="http://schemas.openxmlformats.org/officeDocument/2006/relationships/hyperlink" Target="https://docs.cloud.google.com/architecture/dr-scenarios-building-blocks?utm_source=chatgpt.com" TargetMode="External"/><Relationship Id="rId4" Type="http://schemas.openxmlformats.org/officeDocument/2006/relationships/hyperlink" Target="https://doi.org/10.6028/NIST.SP.800-53r5" TargetMode="External"/><Relationship Id="rId9" Type="http://schemas.openxmlformats.org/officeDocument/2006/relationships/hyperlink" Target="https://docs.cloud.google.com/architecture/dr-scenarios-for-applications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mp.com/giving-thanks-for-critical-infrastructure-and-security-staff-and-why-cybersecurity-is-a-national-priority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2EAB806A-FC7E-2908-FACD-5AA8FAB18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31" y="1372059"/>
            <a:ext cx="8686800" cy="137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I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Analytics-Driven Cloud Disaster Recovery and Intelligent Failover Management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 no. 3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CSA1520– Cloud computing and Big Data analytics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							               Students Name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Dr.A.M.Arul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Raj 						      Yashmita G (192511032)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Professor								      Sanjana G (192511020) 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Pavithra V (192524274)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Dharshana D (192524243)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Turlapati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Anurupa (192524160)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			</a:t>
            </a:r>
            <a:b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3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2954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697" y="2438400"/>
            <a:ext cx="6797675" cy="2133600"/>
          </a:xfrm>
        </p:spPr>
        <p:txBody>
          <a:bodyPr>
            <a:noAutofit/>
          </a:bodyPr>
          <a:lstStyle/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Cloud service disruption and unexpected downtime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Distributed backup storage across cloud regions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Continuous health monitoring of services and resources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Analytics-based outage detection and recovery decisions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Automated failover to healthy standby infrastructure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consistency checks and recovery status reporting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26523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DF8CA-6FE7-C6A1-0158-FA438EADF825}"/>
              </a:ext>
            </a:extLst>
          </p:cNvPr>
          <p:cNvSpPr txBox="1"/>
          <p:nvPr/>
        </p:nvSpPr>
        <p:spPr>
          <a:xfrm>
            <a:off x="499110" y="1905000"/>
            <a:ext cx="832485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 develop an analytics-driven system that detects cloud failures and performs intelligent disaster recovery automatically.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cloud services and infrastructure continuously.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anomalies and predict potential cloud failures.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replicated backups across cloud environments.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switch workloads to a healthy standby cloud.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and maintain recovery logs.20</a:t>
            </a:r>
          </a:p>
        </p:txBody>
      </p:sp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24380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53C28-EA26-4633-638F-97C3BEF8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860" y="2000409"/>
            <a:ext cx="7364730" cy="431545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scalable storage, applications, and services.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failures can cause downtime and data loss.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recovery methods may depend on manual intervention.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helps identify potential failures early.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failover redirects services to a standby cloud.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combines monitoring, prediction, backup, and automated recovery.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83039"/>
            <a:ext cx="8093075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BD6001-E4CB-CB1E-3B44-3ABD3DE2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60571"/>
              </p:ext>
            </p:extLst>
          </p:nvPr>
        </p:nvGraphicFramePr>
        <p:xfrm>
          <a:off x="318136" y="1950846"/>
          <a:ext cx="8507728" cy="425578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20064">
                  <a:extLst>
                    <a:ext uri="{9D8B030D-6E8A-4147-A177-3AD203B41FA5}">
                      <a16:colId xmlns:a16="http://schemas.microsoft.com/office/drawing/2014/main" val="49292703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580393463"/>
                    </a:ext>
                  </a:extLst>
                </a:gridCol>
                <a:gridCol w="1251586">
                  <a:extLst>
                    <a:ext uri="{9D8B030D-6E8A-4147-A177-3AD203B41FA5}">
                      <a16:colId xmlns:a16="http://schemas.microsoft.com/office/drawing/2014/main" val="3623608211"/>
                    </a:ext>
                  </a:extLst>
                </a:gridCol>
                <a:gridCol w="2099311">
                  <a:extLst>
                    <a:ext uri="{9D8B030D-6E8A-4147-A177-3AD203B41FA5}">
                      <a16:colId xmlns:a16="http://schemas.microsoft.com/office/drawing/2014/main" val="2762830139"/>
                    </a:ext>
                  </a:extLst>
                </a:gridCol>
                <a:gridCol w="1215389">
                  <a:extLst>
                    <a:ext uri="{9D8B030D-6E8A-4147-A177-3AD203B41FA5}">
                      <a16:colId xmlns:a16="http://schemas.microsoft.com/office/drawing/2014/main" val="2114339948"/>
                    </a:ext>
                  </a:extLst>
                </a:gridCol>
                <a:gridCol w="1190451">
                  <a:extLst>
                    <a:ext uri="{9D8B030D-6E8A-4147-A177-3AD203B41FA5}">
                      <a16:colId xmlns:a16="http://schemas.microsoft.com/office/drawing/2014/main" val="3725357130"/>
                    </a:ext>
                  </a:extLst>
                </a:gridCol>
                <a:gridCol w="1240327">
                  <a:extLst>
                    <a:ext uri="{9D8B030D-6E8A-4147-A177-3AD203B41FA5}">
                      <a16:colId xmlns:a16="http://schemas.microsoft.com/office/drawing/2014/main" val="2652510508"/>
                    </a:ext>
                  </a:extLst>
                </a:gridCol>
              </a:tblGrid>
              <a:tr h="445782">
                <a:tc>
                  <a:txBody>
                    <a:bodyPr/>
                    <a:lstStyle/>
                    <a:p>
                      <a:r>
                        <a:rPr lang="en-IN" sz="1100" b="1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endParaRPr lang="en-IN" sz="1100" b="1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257610"/>
                  </a:ext>
                </a:extLst>
              </a:tr>
              <a:tr h="23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Raghava </a:t>
                      </a: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Chellu</a:t>
                      </a:r>
                      <a:endParaRPr lang="en-IN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Intelligent Disaster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telemetry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failures and improves recovery.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70155"/>
                  </a:ext>
                </a:extLst>
              </a:tr>
              <a:tr h="23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Hassan Raza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Driven Disaster Recovery in Distributed Cloud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LSTM, Federated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proactive recovery and resource optimization.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55006"/>
                  </a:ext>
                </a:extLst>
              </a:tr>
              <a:tr h="23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Figen Özen &amp; Alireza Souri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Disaster Management 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disaster assessment using cloud and IoT data.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24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Sathish </a:t>
                      </a: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Kuppan</a:t>
                      </a: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Pandurangan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Disaster Recovery System in Cloud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Backup and replication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multi-region recovery and business continuity.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19224"/>
                  </a:ext>
                </a:extLst>
              </a:tr>
              <a:tr h="23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Kun Meng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Disaster Recovery Model Based on Failure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Time-series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ED-LSTM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failures and reduces recovery time.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68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18949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717" y="2095500"/>
            <a:ext cx="7568565" cy="2667000"/>
          </a:xfrm>
        </p:spPr>
        <p:txBody>
          <a:bodyPr>
            <a:noAutofit/>
          </a:bodyPr>
          <a:lstStyle/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failures can interrupt services and affect business continuity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and recovery increase response time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monitoring and backup tools complicate recovery coordination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Unverified failover may redirect traffic to unhealthy resources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analytics-driven outage detection and controlled recovery orchestration</a:t>
            </a:r>
          </a:p>
          <a:p>
            <a:pPr marL="365760" indent="-283464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outcomes: lower recovery time, limited data loss and improved availability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1143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228600" y="1900178"/>
            <a:ext cx="4755515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monitoring of cloud resources and services.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backups and regular data replication.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failure detection and recovery operations.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failover rules for service restoration.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predictive analysis and recovery validation processes.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The diagram illustrates a cloud environment with primary cloud services, user interaction, and backup storage, emphasizing manual recovery and monitoring, including a warning for slow recovery.&#10;&#10;AI-generated content may be incorrect.">
            <a:extLst>
              <a:ext uri="{FF2B5EF4-FFF2-40B4-BE49-F238E27FC236}">
                <a16:creationId xmlns:a16="http://schemas.microsoft.com/office/drawing/2014/main" id="{DA1F3E2D-F058-4D9A-B841-109A85BE9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2380583"/>
            <a:ext cx="33528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170114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228600" y="1905000"/>
            <a:ext cx="50292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cloud monitoring and telemetry collection.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Analytics-based anomaly and failure prediction.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Replicated backups across cloud regions.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failover to a healthy standby cloud.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validation, alerts, and performance reports.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The image depicts a cloud infrastructure diagram with a primary and standby cloud setup, including a user interface for failover and monitoring, with a focus on minimal downtime and real-time analytics.&#10;&#10;AI-generated content may be incorrect.">
            <a:extLst>
              <a:ext uri="{FF2B5EF4-FFF2-40B4-BE49-F238E27FC236}">
                <a16:creationId xmlns:a16="http://schemas.microsoft.com/office/drawing/2014/main" id="{7B5442E2-C523-0F49-502F-9CB624EB4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9" y="2569273"/>
            <a:ext cx="3429001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15009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Overall System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9" name="Picture 8" descr="The diagram illustrates a complex data infrastructure system with layers for data ingestion, storage, analytics, cloud infrastructure, application, and monitoring, including various services like Kafka, anomaly detection, and failover mechanisms.&#10;&#10;AI-generated content may be incorrect.">
            <a:extLst>
              <a:ext uri="{FF2B5EF4-FFF2-40B4-BE49-F238E27FC236}">
                <a16:creationId xmlns:a16="http://schemas.microsoft.com/office/drawing/2014/main" id="{FF074BA9-79BA-D898-F586-47781A6EE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" y="2078683"/>
            <a:ext cx="8507730" cy="3996997"/>
          </a:xfrm>
          <a:prstGeom prst="rect">
            <a:avLst/>
          </a:prstGeom>
        </p:spPr>
      </p:pic>
      <p:pic>
        <p:nvPicPr>
          <p:cNvPr id="11" name="Picture 10" descr="SSE-Computer Science and Engineering">
            <a:extLst>
              <a:ext uri="{FF2B5EF4-FFF2-40B4-BE49-F238E27FC236}">
                <a16:creationId xmlns:a16="http://schemas.microsoft.com/office/drawing/2014/main" id="{E68F7B76-D147-FC3F-DB0E-B7D39D45D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53" y="388117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F17FD7-8FB6-FA88-4F0D-0B350FE792FD}"/>
              </a:ext>
            </a:extLst>
          </p:cNvPr>
          <p:cNvSpPr txBox="1"/>
          <p:nvPr/>
        </p:nvSpPr>
        <p:spPr>
          <a:xfrm>
            <a:off x="547285" y="1950066"/>
            <a:ext cx="48361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9 - Industry, Innovation and Infrastructure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cloud infrastructure against unexpected failures.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reliability through intelligent disaster recovery.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11 - Sustainable Cities and Communities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continuous digital services during system failures.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recovery of critical urban IT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NDUSTRY, INNOVATION, AND INFRASTRUCTURE&#10;&#10;AI-generated content may be incorrect.">
            <a:extLst>
              <a:ext uri="{FF2B5EF4-FFF2-40B4-BE49-F238E27FC236}">
                <a16:creationId xmlns:a16="http://schemas.microsoft.com/office/drawing/2014/main" id="{6A9B7ECD-C3E2-105D-FB4E-C01801FB0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905001"/>
            <a:ext cx="2729314" cy="1999106"/>
          </a:xfrm>
          <a:prstGeom prst="rect">
            <a:avLst/>
          </a:prstGeom>
        </p:spPr>
      </p:pic>
      <p:pic>
        <p:nvPicPr>
          <p:cNvPr id="11" name="Picture 10" descr="The image depicts a city skyline with modern, sustainable buildings, symbolizing eco-friendly urban development.&#10;&#10;AI-generated content may be incorrect.">
            <a:extLst>
              <a:ext uri="{FF2B5EF4-FFF2-40B4-BE49-F238E27FC236}">
                <a16:creationId xmlns:a16="http://schemas.microsoft.com/office/drawing/2014/main" id="{1B5F753F-41E0-A8D0-1FAD-2F1317DA7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4097147"/>
            <a:ext cx="2729314" cy="20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2954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11E6B4E-71DE-962E-DC93-5159412A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3CD102-428C-6898-489F-16247D469427}"/>
              </a:ext>
            </a:extLst>
          </p:cNvPr>
          <p:cNvSpPr txBox="1"/>
          <p:nvPr/>
        </p:nvSpPr>
        <p:spPr>
          <a:xfrm>
            <a:off x="203740" y="1956035"/>
            <a:ext cx="894026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Analytics-Driven Intelligent Failover and Disaster Recovery Algorithm</a:t>
            </a:r>
          </a:p>
        </p:txBody>
      </p:sp>
      <p:pic>
        <p:nvPicPr>
          <p:cNvPr id="8" name="Picture 7" descr="The image depicts a decision flowchart for a monitoring system, starting with the monitoring of cloud resources and system health, proceeding to detect failures, and ending with verifying system recovery and resuming operations.&#10;&#10;AI-generated content may be incorrect.">
            <a:extLst>
              <a:ext uri="{FF2B5EF4-FFF2-40B4-BE49-F238E27FC236}">
                <a16:creationId xmlns:a16="http://schemas.microsoft.com/office/drawing/2014/main" id="{50BE5263-0EAF-BD3C-3D3E-C7F042B9C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2748196"/>
            <a:ext cx="5219700" cy="375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632" y="254279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5E29-3909-BB2C-BA0E-835AACDF4EE6}"/>
              </a:ext>
            </a:extLst>
          </p:cNvPr>
          <p:cNvSpPr txBox="1">
            <a:spLocks/>
          </p:cNvSpPr>
          <p:nvPr/>
        </p:nvSpPr>
        <p:spPr>
          <a:xfrm>
            <a:off x="695106" y="1639775"/>
            <a:ext cx="7499349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Module 1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Telemetry Collection: service probes, logs and cloud metrics.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Module 2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Analytics &amp; Detection: thresholds, trend analysis and anomaly score.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Module 3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Backup &amp; Replication: snapshots, replication lag and recovery points.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Module 4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Failover Orchestration: policy evaluation, target selection and traffic switch.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Module 5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Dashboard &amp; Reporting: live status, alerts, recovery history and audit logs.</a:t>
            </a: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815" y="1210084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407670" y="1905000"/>
            <a:ext cx="810768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cloud infrastructure reliability through intelligent failover mechanisms.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real-time analytics to detect failures and support faster recovery decisions.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service downtime by automatically switching to backup cloud resources.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business continuity and improves the availability of critical digital services.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9 and SDG 11 by promoting resilient infrastructure and reliable digital services.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0668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5BA63A-ABCE-3102-6A85-B6B666FDD82E}"/>
              </a:ext>
            </a:extLst>
          </p:cNvPr>
          <p:cNvSpPr txBox="1"/>
          <p:nvPr/>
        </p:nvSpPr>
        <p:spPr>
          <a:xfrm>
            <a:off x="179070" y="1848484"/>
            <a:ext cx="873633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NIST, “Security and Privacy Controls,” 2020.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https://doi.org/10.6028/NIST.SP.800-53r5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Services, “Disaster Recovery of Workloads on AWS,” 2021.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https://shorturl.at/aws-dr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B.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Khiyami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Shanker, “Building a Disaster Recovery Site on AWS for Workloads on Microsoft Azure,” AWS, 2023.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https://shorturl.at/multicloud-dr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Cloud, “Architecting Disaster Recovery for Cloud Infrastructure Outages,” 2024.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https://shorturl.at/cloud-dr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Services, “Disaster Recovery Options in the Cloud,” AWS.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https://shorturl.at/aws-dr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Cloud, “Disaster Recovery Scenarios for Applications,” 2024.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https://shorturl.at/gcp-app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Cloud, “Disaster Recovery Building Blocks,” 2024.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https://shorturl.at/gcp-blocks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1E9191-7C22-CBCF-459B-1B4EE7D2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7" name="Picture 6" descr="Thank You&#10;&#10;AI-generated content may be incorrect.">
            <a:extLst>
              <a:ext uri="{FF2B5EF4-FFF2-40B4-BE49-F238E27FC236}">
                <a16:creationId xmlns:a16="http://schemas.microsoft.com/office/drawing/2014/main" id="{E2761820-82DB-5063-5F0B-64D89DAC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9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5981</TotalTime>
  <Words>936</Words>
  <Application>Microsoft Office PowerPoint</Application>
  <PresentationFormat>On-screen Show (4:3)</PresentationFormat>
  <Paragraphs>160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宋体</vt:lpstr>
      <vt:lpstr>Arial</vt:lpstr>
      <vt:lpstr>AvantGarde</vt:lpstr>
      <vt:lpstr>Calibri</vt:lpstr>
      <vt:lpstr>Calibri Light</vt:lpstr>
      <vt:lpstr>Times New Roman</vt:lpstr>
      <vt:lpstr>Wingdings 2</vt:lpstr>
      <vt:lpstr>Office Theme</vt:lpstr>
      <vt:lpstr>PowerPoint Presentation</vt:lpstr>
      <vt:lpstr>Abstract</vt:lpstr>
      <vt:lpstr>Aim and Objective</vt:lpstr>
      <vt:lpstr>Introduction</vt:lpstr>
      <vt:lpstr>Literature Review</vt:lpstr>
      <vt:lpstr>Problem Statement</vt:lpstr>
      <vt:lpstr>Existing System</vt:lpstr>
      <vt:lpstr>Proposed System</vt:lpstr>
      <vt:lpstr>Overall System Architectural Design</vt:lpstr>
      <vt:lpstr>Sustainable Development Goal (SDG) Implementation</vt:lpstr>
      <vt:lpstr>Proposed Methodology and Algorithm</vt:lpstr>
      <vt:lpstr>Design &amp; Module Planning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Yashmita Ganesh</cp:lastModifiedBy>
  <cp:revision>425</cp:revision>
  <dcterms:created xsi:type="dcterms:W3CDTF">2000-07-06T15:05:59Z</dcterms:created>
  <dcterms:modified xsi:type="dcterms:W3CDTF">2026-10-20T19:04:50Z</dcterms:modified>
</cp:coreProperties>
</file>